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2058823529411766"/>
          <c:y val="0.009624170965364767"/>
          <c:w val="0.9104411764705881"/>
          <c:h val="0.9861753868828298"/>
        </c:manualLayout>
      </c:layout>
      <c:barChart>
        <c:barDir val="bar"/>
        <c:grouping val="percentStacked"/>
        <c:varyColors val="0"/>
        <c:ser>
          <c:idx val="0"/>
          <c:order val="0"/>
          <c:tx>
            <c:strRef>
              <c:f>Sheet1!$B$1</c:f>
              <c:strCache>
                <c:ptCount val="1"/>
                <c:pt idx="0">
                  <c:v>O&amp;M</c:v>
                </c:pt>
              </c:strCache>
            </c:strRef>
          </c:tx>
          <c:spPr>
            <a:solidFill>
              <a:srgbClr val="409993"/>
            </a:solidFill>
            <a:ln w="6350" cap="flat">
              <a:solidFill>
                <a:srgbClr val="000000"/>
              </a:solidFill>
              <a:prstDash val="solid"/>
              <a:round/>
            </a:ln>
            <a:effectLst/>
          </c:spPr>
          <c:invertIfNegative val="0"/>
          <c:dLbls>
            <c:numFmt formatCode="0&quot;%&quot;" sourceLinked="0"/>
            <c:txPr>
              <a:bodyPr/>
              <a:lstStyle/>
              <a:p>
                <a:pPr>
                  <a:defRPr b="0" i="0" strike="noStrike" sz="700" u="none">
                    <a:solidFill>
                      <a:srgbClr val="000000"/>
                    </a:solidFill>
                    <a:latin typeface="Arial"/>
                  </a:defRPr>
                </a:pPr>
              </a:p>
            </c:txPr>
            <c:dLblPos val="inEnd"/>
            <c:showLegendKey val="0"/>
            <c:showVal val="1"/>
            <c:showCatName val="0"/>
            <c:showSerName val="0"/>
            <c:showPercent val="0"/>
            <c:showBubbleSize val="0"/>
            <c:showLeaderLines val="0"/>
          </c:dLbls>
          <c:cat>
            <c:multiLvlStrRef>
              <c:f>Sheet1!$A$2:$A$25</c:f>
              <c:multiLvlStrCache>
                <c:ptCount val="24"/>
                <c:lvl>
                  <c:pt idx="0">
                    <c:v>Department of Defense</c:v>
                  </c:pt>
                  <c:pt idx="1">
                    <c:v>Department of Homeland Security</c:v>
                  </c:pt>
                  <c:pt idx="2">
                    <c:v>Department of Health and Human Services</c:v>
                  </c:pt>
                  <c:pt idx="3">
                    <c:v>Department of the Treasury</c:v>
                  </c:pt>
                  <c:pt idx="4">
                    <c:v>Department of Veterans Affairs</c:v>
                  </c:pt>
                  <c:pt idx="5">
                    <c:v>Department of Transportation</c:v>
                  </c:pt>
                  <c:pt idx="6">
                    <c:v>Department of Justice</c:v>
                  </c:pt>
                  <c:pt idx="7">
                    <c:v>Department of Energy</c:v>
                  </c:pt>
                  <c:pt idx="8">
                    <c:v>Department of Agriculture</c:v>
                  </c:pt>
                  <c:pt idx="9">
                    <c:v>Department of Commerce</c:v>
                  </c:pt>
                  <c:pt idx="10">
                    <c:v>Department of State</c:v>
                  </c:pt>
                  <c:pt idx="11">
                    <c:v>National Aeronautics and Space Administration</c:v>
                  </c:pt>
                  <c:pt idx="12">
                    <c:v>Social Security Administration</c:v>
                  </c:pt>
                  <c:pt idx="13">
                    <c:v>Department of the Interior</c:v>
                  </c:pt>
                  <c:pt idx="14">
                    <c:v>Department of Education</c:v>
                  </c:pt>
                  <c:pt idx="15">
                    <c:v>General Services Administration</c:v>
                  </c:pt>
                  <c:pt idx="16">
                    <c:v>Department of Labor</c:v>
                  </c:pt>
                  <c:pt idx="17">
                    <c:v>Department of Housing and Urban Development</c:v>
                  </c:pt>
                  <c:pt idx="18">
                    <c:v>Office of Personnel Management</c:v>
                  </c:pt>
                  <c:pt idx="19">
                    <c:v>U.S. Agency for International Development</c:v>
                  </c:pt>
                  <c:pt idx="20">
                    <c:v>Environmental Protection Agency</c:v>
                  </c:pt>
                  <c:pt idx="21">
                    <c:v>Small Business Administration</c:v>
                  </c:pt>
                  <c:pt idx="22">
                    <c:v>National Science Foundation</c:v>
                  </c:pt>
                  <c:pt idx="23">
                    <c:v>Nuclear Regulatory Commission</c:v>
                  </c:pt>
                </c:lvl>
              </c:multiLvlStrCache>
            </c:multiLvlStrRef>
          </c:cat>
          <c:val>
            <c:numRef>
              <c:f>Sheet1!$B$2:$B$25</c:f>
              <c:numCache>
                <c:formatCode>General</c:formatCode>
                <c:ptCount val="24"/>
                <c:pt idx="0">
                  <c:v>83</c:v>
                </c:pt>
                <c:pt idx="1">
                  <c:v>91</c:v>
                </c:pt>
                <c:pt idx="2">
                  <c:v>73</c:v>
                </c:pt>
                <c:pt idx="3">
                  <c:v>61</c:v>
                </c:pt>
                <c:pt idx="4">
                  <c:v>87</c:v>
                </c:pt>
                <c:pt idx="5">
                  <c:v>60</c:v>
                </c:pt>
                <c:pt idx="6">
                  <c:v>79</c:v>
                </c:pt>
                <c:pt idx="7">
                  <c:v>81</c:v>
                </c:pt>
                <c:pt idx="8">
                  <c:v>77</c:v>
                </c:pt>
                <c:pt idx="9">
                  <c:v>74</c:v>
                </c:pt>
                <c:pt idx="10">
                  <c:v>76</c:v>
                </c:pt>
                <c:pt idx="11">
                  <c:v>87</c:v>
                </c:pt>
                <c:pt idx="12">
                  <c:v>70</c:v>
                </c:pt>
                <c:pt idx="13">
                  <c:v>83</c:v>
                </c:pt>
                <c:pt idx="14">
                  <c:v>79</c:v>
                </c:pt>
                <c:pt idx="15">
                  <c:v>72</c:v>
                </c:pt>
                <c:pt idx="16">
                  <c:v>75</c:v>
                </c:pt>
                <c:pt idx="17">
                  <c:v>97</c:v>
                </c:pt>
                <c:pt idx="18">
                  <c:v>86</c:v>
                </c:pt>
                <c:pt idx="19">
                  <c:v>72</c:v>
                </c:pt>
                <c:pt idx="20">
                  <c:v>85</c:v>
                </c:pt>
                <c:pt idx="21">
                  <c:v>95</c:v>
                </c:pt>
                <c:pt idx="22">
                  <c:v>69</c:v>
                </c:pt>
                <c:pt idx="23">
                  <c:v>83</c:v>
                </c:pt>
              </c:numCache>
            </c:numRef>
          </c:val>
        </c:ser>
        <c:ser>
          <c:idx val="1"/>
          <c:order val="1"/>
          <c:tx>
            <c:strRef>
              <c:f>Sheet1!$C$1</c:f>
              <c:strCache>
                <c:ptCount val="1"/>
                <c:pt idx="0">
                  <c:v>DME</c:v>
                </c:pt>
              </c:strCache>
            </c:strRef>
          </c:tx>
          <c:spPr>
            <a:solidFill>
              <a:srgbClr val="99CCFF"/>
            </a:solidFill>
            <a:ln w="6350" cap="flat">
              <a:solidFill>
                <a:srgbClr val="000000"/>
              </a:solidFill>
              <a:prstDash val="solid"/>
              <a:round/>
            </a:ln>
            <a:effectLst/>
          </c:spPr>
          <c:invertIfNegative val="0"/>
          <c:dLbls>
            <c:dLbl>
              <c:idx val="17"/>
              <c:delete val="1"/>
            </c:dLbl>
            <c:dLbl>
              <c:idx val="21"/>
              <c:delete val="1"/>
            </c:dLbl>
            <c:numFmt formatCode="0&quot;%&quot;" sourceLinked="0"/>
            <c:txPr>
              <a:bodyPr/>
              <a:lstStyle/>
              <a:p>
                <a:pPr>
                  <a:defRPr b="0" i="0" strike="noStrike" sz="700" u="none">
                    <a:solidFill>
                      <a:srgbClr val="000000"/>
                    </a:solidFill>
                    <a:latin typeface="Arial"/>
                  </a:defRPr>
                </a:pPr>
              </a:p>
            </c:txPr>
            <c:dLblPos val="inEnd"/>
            <c:showLegendKey val="0"/>
            <c:showVal val="1"/>
            <c:showCatName val="0"/>
            <c:showSerName val="0"/>
            <c:showPercent val="0"/>
            <c:showBubbleSize val="0"/>
            <c:showLeaderLines val="0"/>
          </c:dLbls>
          <c:cat>
            <c:multiLvlStrRef>
              <c:f>Sheet1!$A$2:$A$25</c:f>
              <c:multiLvlStrCache>
                <c:ptCount val="24"/>
                <c:lvl>
                  <c:pt idx="0">
                    <c:v>Department of Defense</c:v>
                  </c:pt>
                  <c:pt idx="1">
                    <c:v>Department of Homeland Security</c:v>
                  </c:pt>
                  <c:pt idx="2">
                    <c:v>Department of Health and Human Services</c:v>
                  </c:pt>
                  <c:pt idx="3">
                    <c:v>Department of the Treasury</c:v>
                  </c:pt>
                  <c:pt idx="4">
                    <c:v>Department of Veterans Affairs</c:v>
                  </c:pt>
                  <c:pt idx="5">
                    <c:v>Department of Transportation</c:v>
                  </c:pt>
                  <c:pt idx="6">
                    <c:v>Department of Justice</c:v>
                  </c:pt>
                  <c:pt idx="7">
                    <c:v>Department of Energy</c:v>
                  </c:pt>
                  <c:pt idx="8">
                    <c:v>Department of Agriculture</c:v>
                  </c:pt>
                  <c:pt idx="9">
                    <c:v>Department of Commerce</c:v>
                  </c:pt>
                  <c:pt idx="10">
                    <c:v>Department of State</c:v>
                  </c:pt>
                  <c:pt idx="11">
                    <c:v>National Aeronautics and Space Administration</c:v>
                  </c:pt>
                  <c:pt idx="12">
                    <c:v>Social Security Administration</c:v>
                  </c:pt>
                  <c:pt idx="13">
                    <c:v>Department of the Interior</c:v>
                  </c:pt>
                  <c:pt idx="14">
                    <c:v>Department of Education</c:v>
                  </c:pt>
                  <c:pt idx="15">
                    <c:v>General Services Administration</c:v>
                  </c:pt>
                  <c:pt idx="16">
                    <c:v>Department of Labor</c:v>
                  </c:pt>
                  <c:pt idx="17">
                    <c:v>Department of Housing and Urban Development</c:v>
                  </c:pt>
                  <c:pt idx="18">
                    <c:v>Office of Personnel Management</c:v>
                  </c:pt>
                  <c:pt idx="19">
                    <c:v>U.S. Agency for International Development</c:v>
                  </c:pt>
                  <c:pt idx="20">
                    <c:v>Environmental Protection Agency</c:v>
                  </c:pt>
                  <c:pt idx="21">
                    <c:v>Small Business Administration</c:v>
                  </c:pt>
                  <c:pt idx="22">
                    <c:v>National Science Foundation</c:v>
                  </c:pt>
                  <c:pt idx="23">
                    <c:v>Nuclear Regulatory Commission</c:v>
                  </c:pt>
                </c:lvl>
              </c:multiLvlStrCache>
            </c:multiLvlStrRef>
          </c:cat>
          <c:val>
            <c:numRef>
              <c:f>Sheet1!$C$2:$C$25</c:f>
              <c:numCache>
                <c:formatCode>General</c:formatCode>
                <c:ptCount val="24"/>
                <c:pt idx="0">
                  <c:v>17</c:v>
                </c:pt>
                <c:pt idx="1">
                  <c:v>9</c:v>
                </c:pt>
                <c:pt idx="2">
                  <c:v>27</c:v>
                </c:pt>
                <c:pt idx="3">
                  <c:v>39</c:v>
                </c:pt>
                <c:pt idx="4">
                  <c:v>13</c:v>
                </c:pt>
                <c:pt idx="5">
                  <c:v>40</c:v>
                </c:pt>
                <c:pt idx="6">
                  <c:v>21</c:v>
                </c:pt>
                <c:pt idx="7">
                  <c:v>19</c:v>
                </c:pt>
                <c:pt idx="8">
                  <c:v>23</c:v>
                </c:pt>
                <c:pt idx="9">
                  <c:v>26</c:v>
                </c:pt>
                <c:pt idx="10">
                  <c:v>24</c:v>
                </c:pt>
                <c:pt idx="11">
                  <c:v>13</c:v>
                </c:pt>
                <c:pt idx="12">
                  <c:v>30</c:v>
                </c:pt>
                <c:pt idx="13">
                  <c:v>17</c:v>
                </c:pt>
                <c:pt idx="14">
                  <c:v>21</c:v>
                </c:pt>
                <c:pt idx="15">
                  <c:v>28</c:v>
                </c:pt>
                <c:pt idx="16">
                  <c:v>25</c:v>
                </c:pt>
                <c:pt idx="17">
                  <c:v>3</c:v>
                </c:pt>
                <c:pt idx="18">
                  <c:v>14</c:v>
                </c:pt>
                <c:pt idx="19">
                  <c:v>28</c:v>
                </c:pt>
                <c:pt idx="20">
                  <c:v>15</c:v>
                </c:pt>
                <c:pt idx="21">
                  <c:v>5</c:v>
                </c:pt>
                <c:pt idx="22">
                  <c:v>31</c:v>
                </c:pt>
                <c:pt idx="23">
                  <c:v>17</c:v>
                </c:pt>
              </c:numCache>
            </c:numRef>
          </c:val>
        </c:ser>
        <c:dLbls>
          <c:numFmt formatCode="0&quot;%&quot;" sourceLinked="0"/>
          <c:txPr>
            <a:bodyPr/>
            <a:lstStyle/>
            <a:p>
              <a:pPr>
                <a:defRPr b="0" i="0" strike="noStrike" sz="700" u="none">
                  <a:solidFill>
                    <a:srgbClr val="000000"/>
                  </a:solidFill>
                  <a:latin typeface="Arial"/>
                </a:defRPr>
              </a:pPr>
            </a:p>
          </c:txPr>
          <c:dLblPos val="inEnd"/>
          <c:showLegendKey val="0"/>
          <c:showVal val="1"/>
          <c:showCatName val="0"/>
          <c:showSerName val="0"/>
          <c:showPercent val="0"/>
          <c:showBubbleSize val="0"/>
          <c:showLeaderLines val="0"/>
        </c:dLbls>
        <c:gapWidth val="24"/>
        <c:overlap val="10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Faithful rebuild of GAO-25-107795, Figure 1, "Planned IT Spending, as Reported on the IT Dashboard for Fiscal Year 2025, in millions of dollars" (PDF page 11, printed page 5).
The bars are one native 100% stacked bar chart. Right-click it and choose Edit Data to see the 48 printed percents. Names and totals are a native table with the same row pitch as the chart.
Every value is in data/figure1.csv with where it was printed. Checks are in checks.md: the 24 totals sum to $105,136 million, and $82,828 million is 78.78%, printed as 79%.
Portfolio reconstruction of a public GAO figure. Not a GAO product. GAO: "This is a work of the U.S. government and is not subject to copyright protection in the United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797808" y="168859"/>
            <a:ext cx="4594860" cy="77724"/>
          </a:xfrm>
          <a:prstGeom prst="rect">
            <a:avLst/>
          </a:prstGeom>
          <a:solidFill>
            <a:srgbClr val="000000"/>
          </a:solidFill>
          <a:ln/>
        </p:spPr>
      </p:sp>
      <p:sp>
        <p:nvSpPr>
          <p:cNvPr id="3" name="Text 1"/>
          <p:cNvSpPr/>
          <p:nvPr/>
        </p:nvSpPr>
        <p:spPr>
          <a:xfrm>
            <a:off x="3810000" y="254681"/>
            <a:ext cx="4572000" cy="274320"/>
          </a:xfrm>
          <a:prstGeom prst="rect">
            <a:avLst/>
          </a:prstGeom>
          <a:noFill/>
          <a:ln/>
        </p:spPr>
        <p:txBody>
          <a:bodyPr wrap="none" lIns="0" tIns="0" rIns="0" bIns="0" rtlCol="0" anchor="t"/>
          <a:lstStyle/>
          <a:p>
            <a:pPr indent="0" marL="0">
              <a:lnSpc>
                <a:spcPts val="1000"/>
              </a:lnSpc>
              <a:buNone/>
            </a:pPr>
            <a:r>
              <a:rPr lang="en-US" sz="900" b="1" dirty="0">
                <a:solidFill>
                  <a:srgbClr val="000000"/>
                </a:solidFill>
                <a:latin typeface="Arial" pitchFamily="34" charset="0"/>
                <a:ea typeface="Arial" pitchFamily="34" charset="-122"/>
                <a:cs typeface="Arial" pitchFamily="34" charset="-120"/>
              </a:rPr>
              <a:t>Figure 1: Planned IT Spending, as Reported on the IT Dashboard for Fiscal Year</a:t>
            </a:r>
            <a:endParaRPr lang="en-US" sz="900" dirty="0"/>
          </a:p>
          <a:p>
            <a:pPr indent="0" marL="0">
              <a:lnSpc>
                <a:spcPts val="1000"/>
              </a:lnSpc>
              <a:buNone/>
            </a:pPr>
            <a:r>
              <a:rPr lang="en-US" sz="900" b="1" dirty="0">
                <a:solidFill>
                  <a:srgbClr val="000000"/>
                </a:solidFill>
                <a:latin typeface="Arial" pitchFamily="34" charset="0"/>
                <a:ea typeface="Arial" pitchFamily="34" charset="-122"/>
                <a:cs typeface="Arial" pitchFamily="34" charset="-120"/>
              </a:rPr>
              <a:t>2025, in millions of dollars</a:t>
            </a:r>
            <a:endParaRPr lang="en-US" sz="900" dirty="0"/>
          </a:p>
        </p:txBody>
      </p:sp>
      <p:sp>
        <p:nvSpPr>
          <p:cNvPr id="4" name="Shape 2"/>
          <p:cNvSpPr/>
          <p:nvPr/>
        </p:nvSpPr>
        <p:spPr>
          <a:xfrm>
            <a:off x="3810000" y="691134"/>
            <a:ext cx="2545080" cy="292760"/>
          </a:xfrm>
          <a:prstGeom prst="rect">
            <a:avLst/>
          </a:prstGeom>
          <a:solidFill>
            <a:srgbClr val="D7D7D7"/>
          </a:solidFill>
          <a:ln/>
        </p:spPr>
      </p:sp>
      <p:sp>
        <p:nvSpPr>
          <p:cNvPr id="5" name="Shape 3"/>
          <p:cNvSpPr/>
          <p:nvPr/>
        </p:nvSpPr>
        <p:spPr>
          <a:xfrm>
            <a:off x="3810000" y="691134"/>
            <a:ext cx="2545080" cy="0"/>
          </a:xfrm>
          <a:prstGeom prst="line">
            <a:avLst/>
          </a:prstGeom>
          <a:noFill/>
          <a:ln w="6350">
            <a:solidFill>
              <a:srgbClr val="000000"/>
            </a:solidFill>
            <a:prstDash val="solid"/>
          </a:ln>
        </p:spPr>
      </p:sp>
      <p:sp>
        <p:nvSpPr>
          <p:cNvPr id="6" name="Shape 4"/>
          <p:cNvSpPr/>
          <p:nvPr/>
        </p:nvSpPr>
        <p:spPr>
          <a:xfrm>
            <a:off x="3810000" y="983894"/>
            <a:ext cx="2545080" cy="0"/>
          </a:xfrm>
          <a:prstGeom prst="line">
            <a:avLst/>
          </a:prstGeom>
          <a:noFill/>
          <a:ln w="6350">
            <a:solidFill>
              <a:srgbClr val="000000"/>
            </a:solidFill>
            <a:prstDash val="solid"/>
          </a:ln>
        </p:spPr>
      </p:sp>
      <p:sp>
        <p:nvSpPr>
          <p:cNvPr id="7" name="Shape 5"/>
          <p:cNvSpPr/>
          <p:nvPr/>
        </p:nvSpPr>
        <p:spPr>
          <a:xfrm>
            <a:off x="6355080" y="691134"/>
            <a:ext cx="1490743" cy="292760"/>
          </a:xfrm>
          <a:prstGeom prst="rect">
            <a:avLst/>
          </a:prstGeom>
          <a:solidFill>
            <a:srgbClr val="409993"/>
          </a:solidFill>
          <a:ln w="6350">
            <a:solidFill>
              <a:srgbClr val="000000"/>
            </a:solidFill>
            <a:prstDash val="solid"/>
          </a:ln>
        </p:spPr>
      </p:sp>
      <p:sp>
        <p:nvSpPr>
          <p:cNvPr id="8" name="Shape 6"/>
          <p:cNvSpPr/>
          <p:nvPr/>
        </p:nvSpPr>
        <p:spPr>
          <a:xfrm>
            <a:off x="7845823" y="691134"/>
            <a:ext cx="396274" cy="292760"/>
          </a:xfrm>
          <a:prstGeom prst="rect">
            <a:avLst/>
          </a:prstGeom>
          <a:solidFill>
            <a:srgbClr val="99CCFF"/>
          </a:solidFill>
          <a:ln w="6350">
            <a:solidFill>
              <a:srgbClr val="000000"/>
            </a:solidFill>
            <a:prstDash val="solid"/>
          </a:ln>
        </p:spPr>
      </p:sp>
      <p:sp>
        <p:nvSpPr>
          <p:cNvPr id="9" name="Text 7"/>
          <p:cNvSpPr/>
          <p:nvPr/>
        </p:nvSpPr>
        <p:spPr>
          <a:xfrm>
            <a:off x="3838956" y="713423"/>
            <a:ext cx="1706880" cy="274320"/>
          </a:xfrm>
          <a:prstGeom prst="rect">
            <a:avLst/>
          </a:prstGeom>
          <a:noFill/>
          <a:ln/>
        </p:spPr>
        <p:txBody>
          <a:bodyPr wrap="none" lIns="0" tIns="0" rIns="0" bIns="0" rtlCol="0" anchor="t"/>
          <a:lstStyle/>
          <a:p>
            <a:pPr indent="0" marL="0">
              <a:lnSpc>
                <a:spcPts val="984"/>
              </a:lnSpc>
              <a:buNone/>
            </a:pPr>
            <a:r>
              <a:rPr lang="en-US" sz="900" b="1" dirty="0">
                <a:solidFill>
                  <a:srgbClr val="000000"/>
                </a:solidFill>
                <a:latin typeface="Arial" pitchFamily="34" charset="0"/>
                <a:ea typeface="Arial" pitchFamily="34" charset="-122"/>
                <a:cs typeface="Arial" pitchFamily="34" charset="-120"/>
              </a:rPr>
              <a:t>Total planned spending for</a:t>
            </a:r>
            <a:endParaRPr lang="en-US" sz="900" dirty="0"/>
          </a:p>
          <a:p>
            <a:pPr indent="0" marL="0">
              <a:lnSpc>
                <a:spcPts val="984"/>
              </a:lnSpc>
              <a:buNone/>
            </a:pPr>
            <a:r>
              <a:rPr lang="en-US" sz="900" b="1" dirty="0">
                <a:solidFill>
                  <a:srgbClr val="000000"/>
                </a:solidFill>
                <a:latin typeface="Arial" pitchFamily="34" charset="0"/>
                <a:ea typeface="Arial" pitchFamily="34" charset="-122"/>
                <a:cs typeface="Arial" pitchFamily="34" charset="-120"/>
              </a:rPr>
              <a:t>fiscal year 2025 (in millions)</a:t>
            </a:r>
            <a:endParaRPr lang="en-US" sz="900" dirty="0"/>
          </a:p>
        </p:txBody>
      </p:sp>
      <p:sp>
        <p:nvSpPr>
          <p:cNvPr id="10" name="Text 8"/>
          <p:cNvSpPr/>
          <p:nvPr/>
        </p:nvSpPr>
        <p:spPr>
          <a:xfrm>
            <a:off x="5522976" y="744601"/>
            <a:ext cx="771144" cy="137160"/>
          </a:xfrm>
          <a:prstGeom prst="rect">
            <a:avLst/>
          </a:prstGeom>
          <a:noFill/>
          <a:ln/>
        </p:spPr>
        <p:txBody>
          <a:bodyPr wrap="none" lIns="0" tIns="0" rIns="0" bIns="0" rtlCol="0" anchor="t"/>
          <a:lstStyle/>
          <a:p>
            <a:pPr algn="r" indent="0" marL="0">
              <a:buNone/>
            </a:pPr>
            <a:r>
              <a:rPr lang="en-US" sz="1000" b="1" dirty="0">
                <a:solidFill>
                  <a:srgbClr val="000000"/>
                </a:solidFill>
                <a:latin typeface="Arial" pitchFamily="34" charset="0"/>
                <a:ea typeface="Arial" pitchFamily="34" charset="-122"/>
                <a:cs typeface="Arial" pitchFamily="34" charset="-120"/>
              </a:rPr>
              <a:t>$105,136</a:t>
            </a:r>
            <a:endParaRPr lang="en-US" sz="1000" dirty="0"/>
          </a:p>
        </p:txBody>
      </p:sp>
      <p:sp>
        <p:nvSpPr>
          <p:cNvPr id="11" name="Text 9"/>
          <p:cNvSpPr/>
          <p:nvPr/>
        </p:nvSpPr>
        <p:spPr>
          <a:xfrm>
            <a:off x="7168896" y="727964"/>
            <a:ext cx="630936" cy="109728"/>
          </a:xfrm>
          <a:prstGeom prst="rect">
            <a:avLst/>
          </a:prstGeom>
          <a:noFill/>
          <a:ln/>
        </p:spPr>
        <p:txBody>
          <a:bodyPr wrap="none" lIns="0" tIns="0" rIns="0" bIns="0" rtlCol="0" anchor="t"/>
          <a:lstStyle/>
          <a:p>
            <a:pPr algn="r" indent="0" marL="0">
              <a:buNone/>
            </a:pPr>
            <a:r>
              <a:rPr lang="en-US" sz="800" b="1" dirty="0">
                <a:solidFill>
                  <a:srgbClr val="000000"/>
                </a:solidFill>
                <a:latin typeface="Arial" pitchFamily="34" charset="0"/>
                <a:ea typeface="Arial" pitchFamily="34" charset="-122"/>
                <a:cs typeface="Arial" pitchFamily="34" charset="-120"/>
              </a:rPr>
              <a:t>$82,828</a:t>
            </a:r>
            <a:endParaRPr lang="en-US" sz="800" dirty="0"/>
          </a:p>
        </p:txBody>
      </p:sp>
      <p:sp>
        <p:nvSpPr>
          <p:cNvPr id="12" name="Text 10"/>
          <p:cNvSpPr/>
          <p:nvPr/>
        </p:nvSpPr>
        <p:spPr>
          <a:xfrm>
            <a:off x="7165848" y="843090"/>
            <a:ext cx="630936" cy="97536"/>
          </a:xfrm>
          <a:prstGeom prst="rect">
            <a:avLst/>
          </a:prstGeom>
          <a:noFill/>
          <a:ln/>
        </p:spPr>
        <p:txBody>
          <a:bodyPr wrap="none" lIns="0" tIns="0" rIns="0" bIns="0" rtlCol="0" anchor="t"/>
          <a:lstStyle/>
          <a:p>
            <a:pPr algn="r" indent="0" marL="0">
              <a:buNone/>
            </a:pPr>
            <a:r>
              <a:rPr lang="en-US" sz="700" dirty="0">
                <a:solidFill>
                  <a:srgbClr val="000000"/>
                </a:solidFill>
                <a:latin typeface="Arial" pitchFamily="34" charset="0"/>
                <a:ea typeface="Arial" pitchFamily="34" charset="-122"/>
                <a:cs typeface="Arial" pitchFamily="34" charset="-120"/>
              </a:rPr>
              <a:t>79%</a:t>
            </a:r>
            <a:endParaRPr lang="en-US" sz="700" dirty="0"/>
          </a:p>
        </p:txBody>
      </p:sp>
      <p:sp>
        <p:nvSpPr>
          <p:cNvPr id="13" name="Text 11"/>
          <p:cNvSpPr/>
          <p:nvPr/>
        </p:nvSpPr>
        <p:spPr>
          <a:xfrm>
            <a:off x="7812024" y="727964"/>
            <a:ext cx="420624" cy="109728"/>
          </a:xfrm>
          <a:prstGeom prst="rect">
            <a:avLst/>
          </a:prstGeom>
          <a:noFill/>
          <a:ln/>
        </p:spPr>
        <p:txBody>
          <a:bodyPr wrap="none" lIns="0" tIns="0" rIns="0" bIns="0" rtlCol="0" anchor="t"/>
          <a:lstStyle/>
          <a:p>
            <a:pPr algn="r" indent="0" marL="0">
              <a:buNone/>
            </a:pPr>
            <a:r>
              <a:rPr lang="en-US" sz="800" b="1" dirty="0">
                <a:solidFill>
                  <a:srgbClr val="000000"/>
                </a:solidFill>
                <a:latin typeface="Arial" pitchFamily="34" charset="0"/>
                <a:ea typeface="Arial" pitchFamily="34" charset="-122"/>
                <a:cs typeface="Arial" pitchFamily="34" charset="-120"/>
              </a:rPr>
              <a:t>$22,308</a:t>
            </a:r>
            <a:endParaRPr lang="en-US" sz="800" dirty="0"/>
          </a:p>
        </p:txBody>
      </p:sp>
      <p:sp>
        <p:nvSpPr>
          <p:cNvPr id="14" name="Text 12"/>
          <p:cNvSpPr/>
          <p:nvPr/>
        </p:nvSpPr>
        <p:spPr>
          <a:xfrm>
            <a:off x="7808976" y="843090"/>
            <a:ext cx="402336" cy="97536"/>
          </a:xfrm>
          <a:prstGeom prst="rect">
            <a:avLst/>
          </a:prstGeom>
          <a:noFill/>
          <a:ln/>
        </p:spPr>
        <p:txBody>
          <a:bodyPr wrap="none" lIns="0" tIns="0" rIns="0" bIns="0" rtlCol="0" anchor="t"/>
          <a:lstStyle/>
          <a:p>
            <a:pPr algn="r" indent="0" marL="0">
              <a:buNone/>
            </a:pPr>
            <a:r>
              <a:rPr lang="en-US" sz="700" dirty="0">
                <a:solidFill>
                  <a:srgbClr val="000000"/>
                </a:solidFill>
                <a:latin typeface="Arial" pitchFamily="34" charset="0"/>
                <a:ea typeface="Arial" pitchFamily="34" charset="-122"/>
                <a:cs typeface="Arial" pitchFamily="34" charset="-120"/>
              </a:rPr>
              <a:t>21%</a:t>
            </a:r>
            <a:endParaRPr lang="en-US" sz="7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3838956" y="1064958"/>
          <a:ext cx="2453640" cy="914400"/>
        </p:xfrm>
        <a:graphic>
          <a:graphicData uri="http://schemas.openxmlformats.org/drawingml/2006/table">
            <a:tbl>
              <a:tblPr/>
              <a:tblGrid>
                <a:gridCol w="2048256"/>
                <a:gridCol w="405384"/>
              </a:tblGrid>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Defense</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$29,095</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Homeland Security</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$10,727</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Health and Human Services</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$10,017</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the Treasury</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$9,454</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Veterans Affairs</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$8,835</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Transportation</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$4,941</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Justice</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$4,570</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Energy</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$4,254</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Agriculture</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$4,253</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Commerce</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$3,012</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State</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$2,784</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National Aeronautics and Space Administration</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$2,418</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Social Security Administration</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$2,195</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the Interior</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$2,017</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Education</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$1,663</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General Services Administration</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$1,376</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Labor</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$956</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Department of Housing and Urban Development</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$538</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Office of Personnel Management</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$500</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U.S. Agency for International Development</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$413</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Environmental Protection Agency</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$412</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Small Business Administration</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$318</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National Science Foundation</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$204</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r h="184735">
                <a:tc>
                  <a:txBody>
                    <a:bodyPr/>
                    <a:lstStyle/>
                    <a:p>
                      <a:pPr algn="l" indent="0" marL="0">
                        <a:buNone/>
                      </a:pPr>
                      <a:r>
                        <a:rPr lang="en-US" sz="700" b="1" dirty="0">
                          <a:solidFill>
                            <a:srgbClr val="000000"/>
                          </a:solidFill>
                          <a:latin typeface="Arial" pitchFamily="34" charset="0"/>
                          <a:ea typeface="Arial" pitchFamily="34" charset="-122"/>
                          <a:cs typeface="Arial" pitchFamily="34" charset="-120"/>
                        </a:rPr>
                        <a:t>Nuclear Regulatory Commission</a:t>
                      </a:r>
                      <a:endParaRPr lang="en-US" sz="7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$184</a:t>
                      </a:r>
                      <a:endParaRPr lang="en-US" sz="8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graphicFrame>
        <p:nvGraphicFramePr>
          <p:cNvPr id="16" name="Chart 0" descr=""/>
          <p:cNvGraphicFramePr/>
          <p:nvPr/>
        </p:nvGraphicFramePr>
        <p:xfrm>
          <a:off x="6309360" y="1008888"/>
          <a:ext cx="2072640" cy="4495800"/>
        </p:xfrm>
        <a:graphic xmlns:a="http://schemas.openxmlformats.org/drawingml/2006/main">
          <a:graphicData uri="http://schemas.openxmlformats.org/drawingml/2006/chart">
            <c:chart xmlns:c="http://schemas.openxmlformats.org/drawingml/2006/chart" r:id="rId1"/>
          </a:graphicData>
        </a:graphic>
      </p:graphicFrame>
      <p:sp>
        <p:nvSpPr>
          <p:cNvPr id="17" name="Text 13"/>
          <p:cNvSpPr/>
          <p:nvPr/>
        </p:nvSpPr>
        <p:spPr>
          <a:xfrm>
            <a:off x="8247278" y="4228649"/>
            <a:ext cx="134112" cy="97536"/>
          </a:xfrm>
          <a:prstGeom prst="rect">
            <a:avLst/>
          </a:prstGeom>
          <a:noFill/>
          <a:ln/>
        </p:spPr>
        <p:txBody>
          <a:bodyPr wrap="none" lIns="0" tIns="0" rIns="0" bIns="0" rtlCol="0" anchor="t"/>
          <a:lstStyle/>
          <a:p>
            <a:pPr indent="0" marL="0">
              <a:buNone/>
            </a:pPr>
            <a:r>
              <a:rPr lang="en-US" sz="700" dirty="0">
                <a:solidFill>
                  <a:srgbClr val="000000"/>
                </a:solidFill>
                <a:latin typeface="Arial" pitchFamily="34" charset="0"/>
                <a:ea typeface="Arial" pitchFamily="34" charset="-122"/>
                <a:cs typeface="Arial" pitchFamily="34" charset="-120"/>
              </a:rPr>
              <a:t>3%</a:t>
            </a:r>
            <a:endParaRPr lang="en-US" sz="700" dirty="0"/>
          </a:p>
        </p:txBody>
      </p:sp>
      <p:sp>
        <p:nvSpPr>
          <p:cNvPr id="18" name="Text 14"/>
          <p:cNvSpPr/>
          <p:nvPr/>
        </p:nvSpPr>
        <p:spPr>
          <a:xfrm>
            <a:off x="8247278" y="4967590"/>
            <a:ext cx="134112" cy="97536"/>
          </a:xfrm>
          <a:prstGeom prst="rect">
            <a:avLst/>
          </a:prstGeom>
          <a:noFill/>
          <a:ln/>
        </p:spPr>
        <p:txBody>
          <a:bodyPr wrap="none" lIns="0" tIns="0" rIns="0" bIns="0" rtlCol="0" anchor="t"/>
          <a:lstStyle/>
          <a:p>
            <a:pPr indent="0" marL="0">
              <a:buNone/>
            </a:pPr>
            <a:r>
              <a:rPr lang="en-US" sz="700" dirty="0">
                <a:solidFill>
                  <a:srgbClr val="000000"/>
                </a:solidFill>
                <a:latin typeface="Arial" pitchFamily="34" charset="0"/>
                <a:ea typeface="Arial" pitchFamily="34" charset="-122"/>
                <a:cs typeface="Arial" pitchFamily="34" charset="-120"/>
              </a:rPr>
              <a:t>5%</a:t>
            </a:r>
            <a:endParaRPr lang="en-US" sz="700" dirty="0"/>
          </a:p>
        </p:txBody>
      </p:sp>
      <p:sp>
        <p:nvSpPr>
          <p:cNvPr id="19" name="Shape 15"/>
          <p:cNvSpPr/>
          <p:nvPr/>
        </p:nvSpPr>
        <p:spPr>
          <a:xfrm>
            <a:off x="6356604" y="5516880"/>
            <a:ext cx="1889760" cy="24384"/>
          </a:xfrm>
          <a:prstGeom prst="rect">
            <a:avLst/>
          </a:prstGeom>
          <a:solidFill>
            <a:srgbClr val="000000"/>
          </a:solidFill>
          <a:ln/>
        </p:spPr>
      </p:sp>
      <p:sp>
        <p:nvSpPr>
          <p:cNvPr id="20" name="Text 16"/>
          <p:cNvSpPr/>
          <p:nvPr/>
        </p:nvSpPr>
        <p:spPr>
          <a:xfrm>
            <a:off x="6262116"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0</a:t>
            </a:r>
            <a:endParaRPr lang="en-US" sz="700" dirty="0"/>
          </a:p>
        </p:txBody>
      </p:sp>
      <p:sp>
        <p:nvSpPr>
          <p:cNvPr id="21" name="Text 17"/>
          <p:cNvSpPr/>
          <p:nvPr/>
        </p:nvSpPr>
        <p:spPr>
          <a:xfrm>
            <a:off x="6451092"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10</a:t>
            </a:r>
            <a:endParaRPr lang="en-US" sz="700" dirty="0"/>
          </a:p>
        </p:txBody>
      </p:sp>
      <p:sp>
        <p:nvSpPr>
          <p:cNvPr id="22" name="Text 18"/>
          <p:cNvSpPr/>
          <p:nvPr/>
        </p:nvSpPr>
        <p:spPr>
          <a:xfrm>
            <a:off x="6640068"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20</a:t>
            </a:r>
            <a:endParaRPr lang="en-US" sz="700" dirty="0"/>
          </a:p>
        </p:txBody>
      </p:sp>
      <p:sp>
        <p:nvSpPr>
          <p:cNvPr id="23" name="Text 19"/>
          <p:cNvSpPr/>
          <p:nvPr/>
        </p:nvSpPr>
        <p:spPr>
          <a:xfrm>
            <a:off x="6829044"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30</a:t>
            </a:r>
            <a:endParaRPr lang="en-US" sz="700" dirty="0"/>
          </a:p>
        </p:txBody>
      </p:sp>
      <p:sp>
        <p:nvSpPr>
          <p:cNvPr id="24" name="Text 20"/>
          <p:cNvSpPr/>
          <p:nvPr/>
        </p:nvSpPr>
        <p:spPr>
          <a:xfrm>
            <a:off x="7018020"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40</a:t>
            </a:r>
            <a:endParaRPr lang="en-US" sz="700" dirty="0"/>
          </a:p>
        </p:txBody>
      </p:sp>
      <p:sp>
        <p:nvSpPr>
          <p:cNvPr id="25" name="Text 21"/>
          <p:cNvSpPr/>
          <p:nvPr/>
        </p:nvSpPr>
        <p:spPr>
          <a:xfrm>
            <a:off x="7206996"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50</a:t>
            </a:r>
            <a:endParaRPr lang="en-US" sz="700" dirty="0"/>
          </a:p>
        </p:txBody>
      </p:sp>
      <p:sp>
        <p:nvSpPr>
          <p:cNvPr id="26" name="Text 22"/>
          <p:cNvSpPr/>
          <p:nvPr/>
        </p:nvSpPr>
        <p:spPr>
          <a:xfrm>
            <a:off x="7395972"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60</a:t>
            </a:r>
            <a:endParaRPr lang="en-US" sz="700" dirty="0"/>
          </a:p>
        </p:txBody>
      </p:sp>
      <p:sp>
        <p:nvSpPr>
          <p:cNvPr id="27" name="Text 23"/>
          <p:cNvSpPr/>
          <p:nvPr/>
        </p:nvSpPr>
        <p:spPr>
          <a:xfrm>
            <a:off x="7584948"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70</a:t>
            </a:r>
            <a:endParaRPr lang="en-US" sz="700" dirty="0"/>
          </a:p>
        </p:txBody>
      </p:sp>
      <p:sp>
        <p:nvSpPr>
          <p:cNvPr id="28" name="Text 24"/>
          <p:cNvSpPr/>
          <p:nvPr/>
        </p:nvSpPr>
        <p:spPr>
          <a:xfrm>
            <a:off x="7773924"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80</a:t>
            </a:r>
            <a:endParaRPr lang="en-US" sz="700" dirty="0"/>
          </a:p>
        </p:txBody>
      </p:sp>
      <p:sp>
        <p:nvSpPr>
          <p:cNvPr id="29" name="Text 25"/>
          <p:cNvSpPr/>
          <p:nvPr/>
        </p:nvSpPr>
        <p:spPr>
          <a:xfrm>
            <a:off x="7962900"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90</a:t>
            </a:r>
            <a:endParaRPr lang="en-US" sz="700" dirty="0"/>
          </a:p>
        </p:txBody>
      </p:sp>
      <p:sp>
        <p:nvSpPr>
          <p:cNvPr id="30" name="Text 26"/>
          <p:cNvSpPr/>
          <p:nvPr/>
        </p:nvSpPr>
        <p:spPr>
          <a:xfrm>
            <a:off x="8151876" y="5616258"/>
            <a:ext cx="182880" cy="97536"/>
          </a:xfrm>
          <a:prstGeom prst="rect">
            <a:avLst/>
          </a:prstGeom>
          <a:noFill/>
          <a:ln/>
        </p:spPr>
        <p:txBody>
          <a:bodyPr wrap="none" lIns="0" tIns="0" rIns="0" bIns="0" rtlCol="0" anchor="t"/>
          <a:lstStyle/>
          <a:p>
            <a:pPr algn="ctr" indent="0" marL="0">
              <a:buNone/>
            </a:pPr>
            <a:r>
              <a:rPr lang="en-US" sz="700" b="1" dirty="0">
                <a:solidFill>
                  <a:srgbClr val="000000"/>
                </a:solidFill>
                <a:latin typeface="Arial" pitchFamily="34" charset="0"/>
                <a:ea typeface="Arial" pitchFamily="34" charset="-122"/>
                <a:cs typeface="Arial" pitchFamily="34" charset="-120"/>
              </a:rPr>
              <a:t>100</a:t>
            </a:r>
            <a:endParaRPr lang="en-US" sz="700" dirty="0"/>
          </a:p>
        </p:txBody>
      </p:sp>
      <p:sp>
        <p:nvSpPr>
          <p:cNvPr id="31" name="Text 27"/>
          <p:cNvSpPr/>
          <p:nvPr/>
        </p:nvSpPr>
        <p:spPr>
          <a:xfrm>
            <a:off x="6360566" y="5765610"/>
            <a:ext cx="1706880" cy="97536"/>
          </a:xfrm>
          <a:prstGeom prst="rect">
            <a:avLst/>
          </a:prstGeom>
          <a:noFill/>
          <a:ln/>
        </p:spPr>
        <p:txBody>
          <a:bodyPr wrap="none" lIns="0" tIns="0" rIns="0" bIns="0" rtlCol="0" anchor="t"/>
          <a:lstStyle/>
          <a:p>
            <a:pPr indent="0" marL="0">
              <a:buNone/>
            </a:pPr>
            <a:r>
              <a:rPr lang="en-US" sz="700" b="1" dirty="0">
                <a:solidFill>
                  <a:srgbClr val="000000"/>
                </a:solidFill>
                <a:latin typeface="Arial" pitchFamily="34" charset="0"/>
                <a:ea typeface="Arial" pitchFamily="34" charset="-122"/>
                <a:cs typeface="Arial" pitchFamily="34" charset="-120"/>
              </a:rPr>
              <a:t>Percent of DME and O&amp;M spending</a:t>
            </a:r>
            <a:endParaRPr lang="en-US" sz="700" dirty="0"/>
          </a:p>
        </p:txBody>
      </p:sp>
      <p:sp>
        <p:nvSpPr>
          <p:cNvPr id="32" name="Shape 28"/>
          <p:cNvSpPr/>
          <p:nvPr/>
        </p:nvSpPr>
        <p:spPr>
          <a:xfrm>
            <a:off x="3834384" y="6007608"/>
            <a:ext cx="304190" cy="146304"/>
          </a:xfrm>
          <a:prstGeom prst="rect">
            <a:avLst/>
          </a:prstGeom>
          <a:solidFill>
            <a:srgbClr val="99CCFF"/>
          </a:solidFill>
          <a:ln w="6350">
            <a:solidFill>
              <a:srgbClr val="000000"/>
            </a:solidFill>
            <a:prstDash val="solid"/>
          </a:ln>
        </p:spPr>
      </p:sp>
      <p:sp>
        <p:nvSpPr>
          <p:cNvPr id="33" name="Text 29"/>
          <p:cNvSpPr/>
          <p:nvPr/>
        </p:nvSpPr>
        <p:spPr>
          <a:xfrm>
            <a:off x="4214774" y="6015546"/>
            <a:ext cx="2225040" cy="97536"/>
          </a:xfrm>
          <a:prstGeom prst="rect">
            <a:avLst/>
          </a:prstGeom>
          <a:noFill/>
          <a:ln/>
        </p:spPr>
        <p:txBody>
          <a:bodyPr wrap="none" lIns="0" tIns="0" rIns="0" bIns="0" rtlCol="0" anchor="t"/>
          <a:lstStyle/>
          <a:p>
            <a:pPr indent="0" marL="0">
              <a:buNone/>
            </a:pPr>
            <a:r>
              <a:rPr lang="en-US" sz="700" dirty="0">
                <a:solidFill>
                  <a:srgbClr val="000000"/>
                </a:solidFill>
                <a:latin typeface="Arial" pitchFamily="34" charset="0"/>
                <a:ea typeface="Arial" pitchFamily="34" charset="-122"/>
                <a:cs typeface="Arial" pitchFamily="34" charset="-120"/>
              </a:rPr>
              <a:t>DME = development, modernization, and enhancement</a:t>
            </a:r>
            <a:endParaRPr lang="en-US" sz="700" dirty="0"/>
          </a:p>
        </p:txBody>
      </p:sp>
      <p:sp>
        <p:nvSpPr>
          <p:cNvPr id="34" name="Shape 30"/>
          <p:cNvSpPr/>
          <p:nvPr/>
        </p:nvSpPr>
        <p:spPr>
          <a:xfrm>
            <a:off x="6467856" y="6007608"/>
            <a:ext cx="304190" cy="146304"/>
          </a:xfrm>
          <a:prstGeom prst="rect">
            <a:avLst/>
          </a:prstGeom>
          <a:solidFill>
            <a:srgbClr val="409993"/>
          </a:solidFill>
          <a:ln w="6350">
            <a:solidFill>
              <a:srgbClr val="000000"/>
            </a:solidFill>
            <a:prstDash val="solid"/>
          </a:ln>
        </p:spPr>
      </p:sp>
      <p:sp>
        <p:nvSpPr>
          <p:cNvPr id="35" name="Text 31"/>
          <p:cNvSpPr/>
          <p:nvPr/>
        </p:nvSpPr>
        <p:spPr>
          <a:xfrm>
            <a:off x="6853733" y="6015546"/>
            <a:ext cx="1493520" cy="97536"/>
          </a:xfrm>
          <a:prstGeom prst="rect">
            <a:avLst/>
          </a:prstGeom>
          <a:noFill/>
          <a:ln/>
        </p:spPr>
        <p:txBody>
          <a:bodyPr wrap="none" lIns="0" tIns="0" rIns="0" bIns="0" rtlCol="0" anchor="t"/>
          <a:lstStyle/>
          <a:p>
            <a:pPr indent="0" marL="0">
              <a:buNone/>
            </a:pPr>
            <a:r>
              <a:rPr lang="en-US" sz="700" dirty="0">
                <a:solidFill>
                  <a:srgbClr val="000000"/>
                </a:solidFill>
                <a:latin typeface="Arial" pitchFamily="34" charset="0"/>
                <a:ea typeface="Arial" pitchFamily="34" charset="-122"/>
                <a:cs typeface="Arial" pitchFamily="34" charset="-120"/>
              </a:rPr>
              <a:t>O&amp;M = operations and maintenance</a:t>
            </a:r>
            <a:endParaRPr lang="en-US" sz="700" dirty="0"/>
          </a:p>
        </p:txBody>
      </p:sp>
      <p:sp>
        <p:nvSpPr>
          <p:cNvPr id="36" name="Text 32"/>
          <p:cNvSpPr/>
          <p:nvPr/>
        </p:nvSpPr>
        <p:spPr>
          <a:xfrm>
            <a:off x="3824630" y="6234303"/>
            <a:ext cx="2316480" cy="85344"/>
          </a:xfrm>
          <a:prstGeom prst="rect">
            <a:avLst/>
          </a:prstGeom>
          <a:noFill/>
          <a:ln/>
        </p:spPr>
        <p:txBody>
          <a:bodyPr wrap="none" lIns="0" tIns="0" rIns="0" bIns="0" rtlCol="0" anchor="t"/>
          <a:lstStyle/>
          <a:p>
            <a:pPr indent="0" marL="0">
              <a:buNone/>
            </a:pPr>
            <a:r>
              <a:rPr lang="en-US" sz="600" dirty="0">
                <a:solidFill>
                  <a:srgbClr val="000000"/>
                </a:solidFill>
                <a:latin typeface="Arial" pitchFamily="34" charset="0"/>
                <a:ea typeface="Arial" pitchFamily="34" charset="-122"/>
                <a:cs typeface="Arial" pitchFamily="34" charset="-120"/>
              </a:rPr>
              <a:t>Source: GAO analysis of IT Dashboard data.  |  GAO-25-107795</a:t>
            </a:r>
            <a:endParaRPr lang="en-US" sz="600" dirty="0"/>
          </a:p>
        </p:txBody>
      </p:sp>
      <p:sp>
        <p:nvSpPr>
          <p:cNvPr id="37" name="Text 33"/>
          <p:cNvSpPr/>
          <p:nvPr/>
        </p:nvSpPr>
        <p:spPr>
          <a:xfrm>
            <a:off x="457200" y="6510528"/>
            <a:ext cx="6949440" cy="228600"/>
          </a:xfrm>
          <a:prstGeom prst="rect">
            <a:avLst/>
          </a:prstGeom>
          <a:noFill/>
          <a:ln/>
        </p:spPr>
        <p:txBody>
          <a:bodyPr wrap="none" lIns="0" tIns="0" rIns="0" bIns="0" rtlCol="0" anchor="t"/>
          <a:lstStyle/>
          <a:p>
            <a:pPr indent="0" marL="0">
              <a:buNone/>
            </a:pPr>
            <a:r>
              <a:rPr lang="en-US" sz="1000" dirty="0">
                <a:solidFill>
                  <a:srgbClr val="595959"/>
                </a:solidFill>
                <a:latin typeface="Arial" pitchFamily="34" charset="0"/>
                <a:ea typeface="Arial" pitchFamily="34" charset="-122"/>
                <a:cs typeface="Arial" pitchFamily="34" charset="-120"/>
              </a:rPr>
              <a:t>Source: GAO-25-107795, Figure 1, printed page 5 (July 2025). Rebuilt as a native PowerPoint chart with embedded data.</a:t>
            </a:r>
            <a:endParaRPr lang="en-US" sz="1000" dirty="0"/>
          </a:p>
        </p:txBody>
      </p:sp>
      <p:sp>
        <p:nvSpPr>
          <p:cNvPr id="38" name="Text 34"/>
          <p:cNvSpPr/>
          <p:nvPr/>
        </p:nvSpPr>
        <p:spPr>
          <a:xfrm>
            <a:off x="7589520" y="6510528"/>
            <a:ext cx="4144975" cy="228600"/>
          </a:xfrm>
          <a:prstGeom prst="rect">
            <a:avLst/>
          </a:prstGeom>
          <a:noFill/>
          <a:ln/>
        </p:spPr>
        <p:txBody>
          <a:bodyPr wrap="none" lIns="0" tIns="0" rIns="0" bIns="0" rtlCol="0" anchor="t"/>
          <a:lstStyle/>
          <a:p>
            <a:pPr algn="r" indent="0" marL="0">
              <a:buNone/>
            </a:pPr>
            <a:r>
              <a:rPr lang="en-US" sz="1000" dirty="0">
                <a:solidFill>
                  <a:srgbClr val="595959"/>
                </a:solidFill>
                <a:latin typeface="Arial" pitchFamily="34" charset="0"/>
                <a:ea typeface="Arial" pitchFamily="34" charset="-122"/>
                <a:cs typeface="Arial" pitchFamily="34" charset="-120"/>
              </a:rPr>
              <a:t>Portfolio reconstruction of a public GAO figure. Not a GAO product.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GAO-25-107795 Figure 1, faithful rebuild</dc:title>
  <dc:subject>Portfolio reconstruction of a public GAO figure. Not a GAO product.</dc:subject>
  <dc:creator>Logan Ankenbrandt</dc:creator>
  <cp:lastModifiedBy>Logan Ankenbrandt</cp:lastModifiedBy>
  <cp:revision>1</cp:revision>
  <dcterms:created xsi:type="dcterms:W3CDTF">2026-10-06T20:11:21Z</dcterms:created>
  <dcterms:modified xsi:type="dcterms:W3CDTF">2026-10-06T20:11:21Z</dcterms:modified>
</cp:coreProperties>
</file>