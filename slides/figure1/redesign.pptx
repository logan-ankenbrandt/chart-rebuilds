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3142857142857143"/>
          <c:y val="0.03578947368421056"/>
          <c:w val="0.5942857142857142"/>
          <c:h val="0.90526315789473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O&amp;M share of planned FY2025 IT spending</c:v>
                </c:pt>
              </c:strCache>
            </c:strRef>
          </c:tx>
          <c:spPr>
            <a:solidFill>
              <a:srgbClr val="2B5D96"/>
            </a:solidFill>
            <a:effectLst/>
          </c:spPr>
          <c:invertIfNegative val="0"/>
          <c:dLbls>
            <c:dLbl>
              <c:idx val="0"/>
              <c:numFmt formatCode="0&quot;%&quot;" sourceLinked="0"/>
              <c:txPr>
                <a:bodyPr/>
                <a:lstStyle/>
                <a:p>
                  <a:pPr>
                    <a:defRPr b="1" i="0" strike="noStrike" sz="1200" u="none">
                      <a:solidFill>
                        <a:srgbClr val="1F29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txPr>
                <a:bodyPr/>
                <a:lstStyle/>
                <a:p>
                  <a:pPr>
                    <a:defRPr b="1" i="0" strike="noStrike" sz="1200" u="none">
                      <a:solidFill>
                        <a:srgbClr val="1F29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txPr>
                <a:bodyPr/>
                <a:lstStyle/>
                <a:p>
                  <a:pPr>
                    <a:defRPr b="1" i="0" strike="noStrike" sz="1200" u="none">
                      <a:solidFill>
                        <a:srgbClr val="1F29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numFmt formatCode="0&quot;%&quot;" sourceLinked="0"/>
              <c:txPr>
                <a:bodyPr/>
                <a:lstStyle/>
                <a:p>
                  <a:pPr>
                    <a:defRPr b="1" i="0" strike="noStrike" sz="1200" u="none">
                      <a:solidFill>
                        <a:srgbClr val="1F29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numFmt formatCode="0&quot;%&quot;" sourceLinked="0"/>
              <c:txPr>
                <a:bodyPr/>
                <a:lstStyle/>
                <a:p>
                  <a:pPr>
                    <a:defRPr b="1" i="0" strike="noStrike" sz="1200" u="none">
                      <a:solidFill>
                        <a:srgbClr val="1F29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Housing and Urban Development</c:v>
                  </c:pt>
                  <c:pt idx="1">
                    <c:v>Small Business Administration</c:v>
                  </c:pt>
                  <c:pt idx="2">
                    <c:v>Homeland Security</c:v>
                  </c:pt>
                  <c:pt idx="3">
                    <c:v>Veterans Affairs</c:v>
                  </c:pt>
                  <c:pt idx="4">
                    <c:v>NASA</c:v>
                  </c:pt>
                  <c:pt idx="5">
                    <c:v>Office of Personnel Management</c:v>
                  </c:pt>
                  <c:pt idx="6">
                    <c:v>Environmental Protection Agency</c:v>
                  </c:pt>
                  <c:pt idx="7">
                    <c:v>Defense</c:v>
                  </c:pt>
                  <c:pt idx="8">
                    <c:v>Interior</c:v>
                  </c:pt>
                  <c:pt idx="9">
                    <c:v>Nuclear Regulatory Commission</c:v>
                  </c:pt>
                  <c:pt idx="10">
                    <c:v>Energy</c:v>
                  </c:pt>
                  <c:pt idx="11">
                    <c:v>Justice</c:v>
                  </c:pt>
                  <c:pt idx="12">
                    <c:v>Education</c:v>
                  </c:pt>
                  <c:pt idx="13">
                    <c:v>Agriculture</c:v>
                  </c:pt>
                  <c:pt idx="14">
                    <c:v>State</c:v>
                  </c:pt>
                  <c:pt idx="15">
                    <c:v>Labor</c:v>
                  </c:pt>
                  <c:pt idx="16">
                    <c:v>Commerce</c:v>
                  </c:pt>
                  <c:pt idx="17">
                    <c:v>Health and Human Services</c:v>
                  </c:pt>
                  <c:pt idx="18">
                    <c:v>General Services Administration</c:v>
                  </c:pt>
                  <c:pt idx="19">
                    <c:v>USAID</c:v>
                  </c:pt>
                  <c:pt idx="20">
                    <c:v>Social Security Administration</c:v>
                  </c:pt>
                  <c:pt idx="21">
                    <c:v>National Science Foundation</c:v>
                  </c:pt>
                  <c:pt idx="22">
                    <c:v>Treasury</c:v>
                  </c:pt>
                  <c:pt idx="23">
                    <c:v>Transportation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97</c:v>
                </c:pt>
                <c:pt idx="1">
                  <c:v>95</c:v>
                </c:pt>
                <c:pt idx="2">
                  <c:v>91</c:v>
                </c:pt>
                <c:pt idx="3">
                  <c:v>87</c:v>
                </c:pt>
                <c:pt idx="4">
                  <c:v>87</c:v>
                </c:pt>
                <c:pt idx="5">
                  <c:v>86</c:v>
                </c:pt>
                <c:pt idx="6">
                  <c:v>85</c:v>
                </c:pt>
                <c:pt idx="7">
                  <c:v>83</c:v>
                </c:pt>
                <c:pt idx="8">
                  <c:v>83</c:v>
                </c:pt>
                <c:pt idx="9">
                  <c:v>83</c:v>
                </c:pt>
                <c:pt idx="10">
                  <c:v>81</c:v>
                </c:pt>
                <c:pt idx="11">
                  <c:v>79</c:v>
                </c:pt>
                <c:pt idx="12">
                  <c:v>79</c:v>
                </c:pt>
                <c:pt idx="13">
                  <c:v>77</c:v>
                </c:pt>
                <c:pt idx="14">
                  <c:v>76</c:v>
                </c:pt>
                <c:pt idx="15">
                  <c:v>75</c:v>
                </c:pt>
                <c:pt idx="16">
                  <c:v>74</c:v>
                </c:pt>
                <c:pt idx="17">
                  <c:v>73</c:v>
                </c:pt>
                <c:pt idx="18">
                  <c:v>72</c:v>
                </c:pt>
                <c:pt idx="19">
                  <c:v>72</c:v>
                </c:pt>
                <c:pt idx="20">
                  <c:v>70</c:v>
                </c:pt>
                <c:pt idx="21">
                  <c:v>69</c:v>
                </c:pt>
                <c:pt idx="22">
                  <c:v>61</c:v>
                </c:pt>
                <c:pt idx="23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max"/>
        <c:crossBetween val="between"/>
        <c:majorUnit val="2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Redesign of GAO-25-107795, Figure 1 (PDF page 11, printed page 5), for a slide read at a distance.
Title numbers are GAO's: about $83 billion (79 percent) of planned FY2025 IT spending for operations and maintenance (report page 4). The figure prints $82,828 million of $105,136 million, and the exact share is 78.78%.
The bars are one native bar chart: right-click and choose Edit Data. Shares are the printed whole percents. Agencies with equal shares keep GAO's order, largest total first.
The orange line is a drawn line at the computed 78.78% position of the axis. It does not move if the data change.
Portfolio reconstruction of a public GAO figure. Not a GAO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planned 79% of FY2025 IT spending, about $83 billion, for operations and maintenance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each agency's planned FY2025 IT spending that goes to operations and maintenance (O&amp;M)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8001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17779" y="1883664"/>
            <a:ext cx="0" cy="3986784"/>
          </a:xfrm>
          <a:prstGeom prst="line">
            <a:avLst/>
          </a:prstGeom>
          <a:noFill/>
          <a:ln w="25400">
            <a:solidFill>
              <a:srgbClr val="D55E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0499" y="1655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24 agencies: 79%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1938528"/>
            <a:ext cx="3001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is all 24 agencies combined: $82,828 million of $105,136 million (78.8%). The other 21% is for development, modernization and enhancement.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32520" y="3337560"/>
            <a:ext cx="3001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GAO's report (page 1) also says agencies have typically reported spending about 80 percent on O&amp;M. That general statement is separate from these FY2025 plans.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32520" y="4892040"/>
            <a:ext cx="300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GAO notes it is uncertain how much O&amp;M spending goes to legacy technology (report page 4).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1996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GAO-25-107795, Figure 1 (July 2025); GAO analysis of IT Dashboard data, 24 CFO Act agencies.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6199632"/>
            <a:ext cx="4327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GAO figure. Not a GAO product.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 4.0.1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GAO-25-107795 Figure 1, redesigned</dc:title>
  <dc:subject>Portfolio reconstruction of a public GAO figure. Not a GAO product.</dc:subject>
  <dc:creator>Logan Ankenbrandt</dc:creator>
  <dc:description>Generated by Claude Code agents with PptxGenJS 4.0.1 from data/figure1.csv (https://github.com/logan-ankenbrandt/chart-rebuilds). Portfolio reconstruction of a public GAO figure. Not a GAO product.</dc:description>
  <cp:lastModifiedBy>Claude Code (PptxGenJS 4.0.1)</cp:lastModifiedBy>
  <cp:revision>1</cp:revision>
  <dcterms:created xsi:type="dcterms:W3CDTF">2026-10-08T14:18:03Z</dcterms:created>
  <dcterms:modified xsi:type="dcterms:W3CDTF">2026-10-08T14:18:03Z</dcterms:modified>
</cp:coreProperties>
</file>